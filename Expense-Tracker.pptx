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nva Sans" charset="1" panose="020B0503030501040103"/>
      <p:regular r:id="rId16"/>
    </p:embeddedFont>
    <p:embeddedFont>
      <p:font typeface="Canva Sans Bold" charset="1" panose="020B08030305010401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194886" y="2842594"/>
            <a:ext cx="9898228" cy="1708217"/>
          </a:xfrm>
          <a:prstGeom prst="rect">
            <a:avLst/>
          </a:prstGeom>
        </p:spPr>
        <p:txBody>
          <a:bodyPr anchor="t" rtlCol="false" tIns="0" lIns="0" bIns="0" rIns="0">
            <a:spAutoFit/>
          </a:bodyPr>
          <a:lstStyle/>
          <a:p>
            <a:pPr algn="ctr">
              <a:lnSpc>
                <a:spcPts val="13999"/>
              </a:lnSpc>
              <a:spcBef>
                <a:spcPct val="0"/>
              </a:spcBef>
            </a:pPr>
            <a:r>
              <a:rPr lang="en-US" sz="9999">
                <a:solidFill>
                  <a:srgbClr val="000000"/>
                </a:solidFill>
                <a:latin typeface="Canva Sans"/>
                <a:ea typeface="Canva Sans"/>
                <a:cs typeface="Canva Sans"/>
                <a:sym typeface="Canva Sans"/>
              </a:rPr>
              <a:t>Expense Tracker</a:t>
            </a:r>
          </a:p>
        </p:txBody>
      </p:sp>
      <p:sp>
        <p:nvSpPr>
          <p:cNvPr name="TextBox 3" id="3"/>
          <p:cNvSpPr txBox="true"/>
          <p:nvPr/>
        </p:nvSpPr>
        <p:spPr>
          <a:xfrm rot="0">
            <a:off x="5521349" y="4670180"/>
            <a:ext cx="7245302" cy="2748836"/>
          </a:xfrm>
          <a:prstGeom prst="rect">
            <a:avLst/>
          </a:prstGeom>
        </p:spPr>
        <p:txBody>
          <a:bodyPr anchor="t" rtlCol="false" tIns="0" lIns="0" bIns="0" rIns="0">
            <a:spAutoFit/>
          </a:bodyPr>
          <a:lstStyle/>
          <a:p>
            <a:pPr algn="ctr">
              <a:lnSpc>
                <a:spcPts val="4098"/>
              </a:lnSpc>
            </a:pPr>
            <a:r>
              <a:rPr lang="en-US" sz="2927">
                <a:solidFill>
                  <a:srgbClr val="000000"/>
                </a:solidFill>
                <a:latin typeface="Canva Sans"/>
                <a:ea typeface="Canva Sans"/>
                <a:cs typeface="Canva Sans"/>
                <a:sym typeface="Canva Sans"/>
              </a:rPr>
              <a:t>Del Mundo, Carlos Miguel B.</a:t>
            </a:r>
          </a:p>
          <a:p>
            <a:pPr algn="ctr">
              <a:lnSpc>
                <a:spcPts val="4098"/>
              </a:lnSpc>
            </a:pPr>
            <a:r>
              <a:rPr lang="en-US" sz="2927">
                <a:solidFill>
                  <a:srgbClr val="000000"/>
                </a:solidFill>
                <a:latin typeface="Canva Sans"/>
                <a:ea typeface="Canva Sans"/>
                <a:cs typeface="Canva Sans"/>
                <a:sym typeface="Canva Sans"/>
              </a:rPr>
              <a:t>Ferol, John Sebastian Khyle M.</a:t>
            </a:r>
          </a:p>
          <a:p>
            <a:pPr algn="ctr">
              <a:lnSpc>
                <a:spcPts val="4098"/>
              </a:lnSpc>
            </a:pPr>
            <a:r>
              <a:rPr lang="en-US" sz="2927">
                <a:solidFill>
                  <a:srgbClr val="000000"/>
                </a:solidFill>
                <a:latin typeface="Canva Sans"/>
                <a:ea typeface="Canva Sans"/>
                <a:cs typeface="Canva Sans"/>
                <a:sym typeface="Canva Sans"/>
              </a:rPr>
              <a:t>Malacas, Sigmund B.</a:t>
            </a:r>
          </a:p>
          <a:p>
            <a:pPr algn="ctr">
              <a:lnSpc>
                <a:spcPts val="4098"/>
              </a:lnSpc>
            </a:pPr>
            <a:r>
              <a:rPr lang="en-US" sz="2927">
                <a:solidFill>
                  <a:srgbClr val="000000"/>
                </a:solidFill>
                <a:latin typeface="Canva Sans"/>
                <a:ea typeface="Canva Sans"/>
                <a:cs typeface="Canva Sans"/>
                <a:sym typeface="Canva Sans"/>
              </a:rPr>
              <a:t>Manansala, Nash A.</a:t>
            </a:r>
          </a:p>
          <a:p>
            <a:pPr algn="ctr">
              <a:lnSpc>
                <a:spcPts val="4098"/>
              </a:lnSpc>
            </a:pPr>
            <a:r>
              <a:rPr lang="en-US" sz="2927">
                <a:solidFill>
                  <a:srgbClr val="000000"/>
                </a:solidFill>
                <a:latin typeface="Canva Sans"/>
                <a:ea typeface="Canva Sans"/>
                <a:cs typeface="Canva Sans"/>
                <a:sym typeface="Canva Sans"/>
              </a:rPr>
              <a:t>Musa, John Mark M.</a:t>
            </a:r>
          </a:p>
          <a:p>
            <a:pPr algn="ctr">
              <a:lnSpc>
                <a:spcPts val="122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280234" y="3308603"/>
            <a:ext cx="11727532" cy="6743331"/>
          </a:xfrm>
          <a:custGeom>
            <a:avLst/>
            <a:gdLst/>
            <a:ahLst/>
            <a:cxnLst/>
            <a:rect r="r" b="b" t="t" l="l"/>
            <a:pathLst>
              <a:path h="6743331" w="11727532">
                <a:moveTo>
                  <a:pt x="0" y="0"/>
                </a:moveTo>
                <a:lnTo>
                  <a:pt x="11727532" y="0"/>
                </a:lnTo>
                <a:lnTo>
                  <a:pt x="11727532" y="6743331"/>
                </a:lnTo>
                <a:lnTo>
                  <a:pt x="0" y="6743331"/>
                </a:lnTo>
                <a:lnTo>
                  <a:pt x="0" y="0"/>
                </a:lnTo>
                <a:close/>
              </a:path>
            </a:pathLst>
          </a:custGeom>
          <a:blipFill>
            <a:blip r:embed="rId2"/>
            <a:stretch>
              <a:fillRect l="0" t="0" r="0" b="0"/>
            </a:stretch>
          </a:blipFill>
        </p:spPr>
      </p:sp>
      <p:sp>
        <p:nvSpPr>
          <p:cNvPr name="TextBox 3" id="3"/>
          <p:cNvSpPr txBox="true"/>
          <p:nvPr/>
        </p:nvSpPr>
        <p:spPr>
          <a:xfrm rot="0">
            <a:off x="1028700" y="321874"/>
            <a:ext cx="16230600" cy="2149804"/>
          </a:xfrm>
          <a:prstGeom prst="rect">
            <a:avLst/>
          </a:prstGeom>
        </p:spPr>
        <p:txBody>
          <a:bodyPr anchor="t" rtlCol="false" tIns="0" lIns="0" bIns="0" rIns="0">
            <a:spAutoFit/>
          </a:bodyPr>
          <a:lstStyle/>
          <a:p>
            <a:pPr algn="l">
              <a:lnSpc>
                <a:spcPts val="4349"/>
              </a:lnSpc>
            </a:pPr>
            <a:r>
              <a:rPr lang="en-US" sz="3106" b="true">
                <a:solidFill>
                  <a:srgbClr val="000000"/>
                </a:solidFill>
                <a:latin typeface="Canva Sans Bold"/>
                <a:ea typeface="Canva Sans Bold"/>
                <a:cs typeface="Canva Sans Bold"/>
                <a:sym typeface="Canva Sans Bold"/>
              </a:rPr>
              <a:t>Purpose</a:t>
            </a:r>
            <a:r>
              <a:rPr lang="en-US" sz="3106">
                <a:solidFill>
                  <a:srgbClr val="000000"/>
                </a:solidFill>
                <a:latin typeface="Canva Sans"/>
                <a:ea typeface="Canva Sans"/>
                <a:cs typeface="Canva Sans"/>
                <a:sym typeface="Canva Sans"/>
              </a:rPr>
              <a:t>: The system helps users manage their money by letting them record expenses, group them into categories, set budgets, and see simple financial summaries. It also keeps each user’s data safe by using login protection and making sure users can only see their own information.</a:t>
            </a:r>
          </a:p>
        </p:txBody>
      </p:sp>
      <p:sp>
        <p:nvSpPr>
          <p:cNvPr name="TextBox 4" id="4"/>
          <p:cNvSpPr txBox="true"/>
          <p:nvPr/>
        </p:nvSpPr>
        <p:spPr>
          <a:xfrm rot="0">
            <a:off x="1028700" y="2593261"/>
            <a:ext cx="1839230" cy="521128"/>
          </a:xfrm>
          <a:prstGeom prst="rect">
            <a:avLst/>
          </a:prstGeom>
        </p:spPr>
        <p:txBody>
          <a:bodyPr anchor="t" rtlCol="false" tIns="0" lIns="0" bIns="0" rIns="0">
            <a:spAutoFit/>
          </a:bodyPr>
          <a:lstStyle/>
          <a:p>
            <a:pPr algn="ctr">
              <a:lnSpc>
                <a:spcPts val="4349"/>
              </a:lnSpc>
            </a:pPr>
            <a:r>
              <a:rPr lang="en-US" sz="3106" b="true">
                <a:solidFill>
                  <a:srgbClr val="000000"/>
                </a:solidFill>
                <a:latin typeface="Canva Sans Bold"/>
                <a:ea typeface="Canva Sans Bold"/>
                <a:cs typeface="Canva Sans Bold"/>
                <a:sym typeface="Canva Sans Bold"/>
              </a:rPr>
              <a:t>Sitemap</a:t>
            </a:r>
            <a:r>
              <a:rPr lang="en-US" sz="3106">
                <a:solidFill>
                  <a:srgbClr val="000000"/>
                </a:solidFill>
                <a:latin typeface="Canva Sans"/>
                <a:ea typeface="Canva Sans"/>
                <a:cs typeface="Canva Sans"/>
                <a:sym typeface="Canva Sans"/>
              </a:rPr>
              <a: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52655" y="5293289"/>
            <a:ext cx="9087460" cy="4680042"/>
          </a:xfrm>
          <a:custGeom>
            <a:avLst/>
            <a:gdLst/>
            <a:ahLst/>
            <a:cxnLst/>
            <a:rect r="r" b="b" t="t" l="l"/>
            <a:pathLst>
              <a:path h="4680042" w="9087460">
                <a:moveTo>
                  <a:pt x="0" y="0"/>
                </a:moveTo>
                <a:lnTo>
                  <a:pt x="9087459" y="0"/>
                </a:lnTo>
                <a:lnTo>
                  <a:pt x="9087459" y="4680041"/>
                </a:lnTo>
                <a:lnTo>
                  <a:pt x="0" y="4680041"/>
                </a:lnTo>
                <a:lnTo>
                  <a:pt x="0" y="0"/>
                </a:lnTo>
                <a:close/>
              </a:path>
            </a:pathLst>
          </a:custGeom>
          <a:blipFill>
            <a:blip r:embed="rId2"/>
            <a:stretch>
              <a:fillRect l="0" t="0" r="0" b="0"/>
            </a:stretch>
          </a:blipFill>
        </p:spPr>
      </p:sp>
      <p:sp>
        <p:nvSpPr>
          <p:cNvPr name="Freeform 3" id="3"/>
          <p:cNvSpPr/>
          <p:nvPr/>
        </p:nvSpPr>
        <p:spPr>
          <a:xfrm flipH="false" flipV="false" rot="0">
            <a:off x="8052655" y="334151"/>
            <a:ext cx="9087460" cy="4680042"/>
          </a:xfrm>
          <a:custGeom>
            <a:avLst/>
            <a:gdLst/>
            <a:ahLst/>
            <a:cxnLst/>
            <a:rect r="r" b="b" t="t" l="l"/>
            <a:pathLst>
              <a:path h="4680042" w="9087460">
                <a:moveTo>
                  <a:pt x="0" y="0"/>
                </a:moveTo>
                <a:lnTo>
                  <a:pt x="9087459" y="0"/>
                </a:lnTo>
                <a:lnTo>
                  <a:pt x="9087459" y="4680041"/>
                </a:lnTo>
                <a:lnTo>
                  <a:pt x="0" y="4680041"/>
                </a:lnTo>
                <a:lnTo>
                  <a:pt x="0" y="0"/>
                </a:lnTo>
                <a:close/>
              </a:path>
            </a:pathLst>
          </a:custGeom>
          <a:blipFill>
            <a:blip r:embed="rId2"/>
            <a:stretch>
              <a:fillRect l="0" t="0" r="0" b="0"/>
            </a:stretch>
          </a:blipFill>
        </p:spPr>
      </p:sp>
      <p:sp>
        <p:nvSpPr>
          <p:cNvPr name="Freeform 4" id="4"/>
          <p:cNvSpPr/>
          <p:nvPr/>
        </p:nvSpPr>
        <p:spPr>
          <a:xfrm flipH="false" flipV="false" rot="0">
            <a:off x="8052655" y="334151"/>
            <a:ext cx="9087460" cy="4691401"/>
          </a:xfrm>
          <a:custGeom>
            <a:avLst/>
            <a:gdLst/>
            <a:ahLst/>
            <a:cxnLst/>
            <a:rect r="r" b="b" t="t" l="l"/>
            <a:pathLst>
              <a:path h="4691401" w="9087460">
                <a:moveTo>
                  <a:pt x="0" y="0"/>
                </a:moveTo>
                <a:lnTo>
                  <a:pt x="9087459" y="0"/>
                </a:lnTo>
                <a:lnTo>
                  <a:pt x="9087459" y="4691401"/>
                </a:lnTo>
                <a:lnTo>
                  <a:pt x="0" y="4691401"/>
                </a:lnTo>
                <a:lnTo>
                  <a:pt x="0" y="0"/>
                </a:lnTo>
                <a:close/>
              </a:path>
            </a:pathLst>
          </a:custGeom>
          <a:blipFill>
            <a:blip r:embed="rId3"/>
            <a:stretch>
              <a:fillRect l="0" t="0" r="0" b="0"/>
            </a:stretch>
          </a:blipFill>
        </p:spPr>
      </p:sp>
      <p:sp>
        <p:nvSpPr>
          <p:cNvPr name="TextBox 5" id="5"/>
          <p:cNvSpPr txBox="true"/>
          <p:nvPr/>
        </p:nvSpPr>
        <p:spPr>
          <a:xfrm rot="0">
            <a:off x="1028700" y="2258022"/>
            <a:ext cx="4789008" cy="748409"/>
          </a:xfrm>
          <a:prstGeom prst="rect">
            <a:avLst/>
          </a:prstGeom>
        </p:spPr>
        <p:txBody>
          <a:bodyPr anchor="t" rtlCol="false" tIns="0" lIns="0" bIns="0" rIns="0">
            <a:spAutoFit/>
          </a:bodyPr>
          <a:lstStyle/>
          <a:p>
            <a:pPr algn="ctr">
              <a:lnSpc>
                <a:spcPts val="6123"/>
              </a:lnSpc>
            </a:pPr>
            <a:r>
              <a:rPr lang="en-US" sz="4373" b="true">
                <a:solidFill>
                  <a:srgbClr val="000000"/>
                </a:solidFill>
                <a:latin typeface="Canva Sans Bold"/>
                <a:ea typeface="Canva Sans Bold"/>
                <a:cs typeface="Canva Sans Bold"/>
                <a:sym typeface="Canva Sans Bold"/>
              </a:rPr>
              <a:t>Register page</a:t>
            </a:r>
          </a:p>
        </p:txBody>
      </p:sp>
      <p:sp>
        <p:nvSpPr>
          <p:cNvPr name="TextBox 6" id="6"/>
          <p:cNvSpPr txBox="true"/>
          <p:nvPr/>
        </p:nvSpPr>
        <p:spPr>
          <a:xfrm rot="0">
            <a:off x="1028700" y="7211480"/>
            <a:ext cx="4789008" cy="748409"/>
          </a:xfrm>
          <a:prstGeom prst="rect">
            <a:avLst/>
          </a:prstGeom>
        </p:spPr>
        <p:txBody>
          <a:bodyPr anchor="t" rtlCol="false" tIns="0" lIns="0" bIns="0" rIns="0">
            <a:spAutoFit/>
          </a:bodyPr>
          <a:lstStyle/>
          <a:p>
            <a:pPr algn="ctr">
              <a:lnSpc>
                <a:spcPts val="6123"/>
              </a:lnSpc>
            </a:pPr>
            <a:r>
              <a:rPr lang="en-US" sz="4373" b="true">
                <a:solidFill>
                  <a:srgbClr val="000000"/>
                </a:solidFill>
                <a:latin typeface="Canva Sans Bold"/>
                <a:ea typeface="Canva Sans Bold"/>
                <a:cs typeface="Canva Sans Bold"/>
                <a:sym typeface="Canva Sans Bold"/>
              </a:rPr>
              <a:t>Login page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52655" y="5293289"/>
            <a:ext cx="9087460" cy="4680042"/>
          </a:xfrm>
          <a:custGeom>
            <a:avLst/>
            <a:gdLst/>
            <a:ahLst/>
            <a:cxnLst/>
            <a:rect r="r" b="b" t="t" l="l"/>
            <a:pathLst>
              <a:path h="4680042" w="9087460">
                <a:moveTo>
                  <a:pt x="0" y="0"/>
                </a:moveTo>
                <a:lnTo>
                  <a:pt x="9087459" y="0"/>
                </a:lnTo>
                <a:lnTo>
                  <a:pt x="9087459" y="4680041"/>
                </a:lnTo>
                <a:lnTo>
                  <a:pt x="0" y="4680041"/>
                </a:lnTo>
                <a:lnTo>
                  <a:pt x="0" y="0"/>
                </a:lnTo>
                <a:close/>
              </a:path>
            </a:pathLst>
          </a:custGeom>
          <a:blipFill>
            <a:blip r:embed="rId2"/>
            <a:stretch>
              <a:fillRect l="0" t="0" r="0" b="0"/>
            </a:stretch>
          </a:blipFill>
        </p:spPr>
      </p:sp>
      <p:sp>
        <p:nvSpPr>
          <p:cNvPr name="Freeform 3" id="3"/>
          <p:cNvSpPr/>
          <p:nvPr/>
        </p:nvSpPr>
        <p:spPr>
          <a:xfrm flipH="false" flipV="false" rot="0">
            <a:off x="8052655" y="334151"/>
            <a:ext cx="9087460" cy="4680042"/>
          </a:xfrm>
          <a:custGeom>
            <a:avLst/>
            <a:gdLst/>
            <a:ahLst/>
            <a:cxnLst/>
            <a:rect r="r" b="b" t="t" l="l"/>
            <a:pathLst>
              <a:path h="4680042" w="9087460">
                <a:moveTo>
                  <a:pt x="0" y="0"/>
                </a:moveTo>
                <a:lnTo>
                  <a:pt x="9087459" y="0"/>
                </a:lnTo>
                <a:lnTo>
                  <a:pt x="9087459" y="4680041"/>
                </a:lnTo>
                <a:lnTo>
                  <a:pt x="0" y="4680041"/>
                </a:lnTo>
                <a:lnTo>
                  <a:pt x="0" y="0"/>
                </a:lnTo>
                <a:close/>
              </a:path>
            </a:pathLst>
          </a:custGeom>
          <a:blipFill>
            <a:blip r:embed="rId2"/>
            <a:stretch>
              <a:fillRect l="0" t="0" r="0" b="0"/>
            </a:stretch>
          </a:blipFill>
        </p:spPr>
      </p:sp>
      <p:sp>
        <p:nvSpPr>
          <p:cNvPr name="Freeform 4" id="4"/>
          <p:cNvSpPr/>
          <p:nvPr/>
        </p:nvSpPr>
        <p:spPr>
          <a:xfrm flipH="false" flipV="false" rot="0">
            <a:off x="8052655" y="334151"/>
            <a:ext cx="9087460" cy="4691401"/>
          </a:xfrm>
          <a:custGeom>
            <a:avLst/>
            <a:gdLst/>
            <a:ahLst/>
            <a:cxnLst/>
            <a:rect r="r" b="b" t="t" l="l"/>
            <a:pathLst>
              <a:path h="4691401" w="9087460">
                <a:moveTo>
                  <a:pt x="0" y="0"/>
                </a:moveTo>
                <a:lnTo>
                  <a:pt x="9087459" y="0"/>
                </a:lnTo>
                <a:lnTo>
                  <a:pt x="9087459" y="4691401"/>
                </a:lnTo>
                <a:lnTo>
                  <a:pt x="0" y="4691401"/>
                </a:lnTo>
                <a:lnTo>
                  <a:pt x="0" y="0"/>
                </a:lnTo>
                <a:close/>
              </a:path>
            </a:pathLst>
          </a:custGeom>
          <a:blipFill>
            <a:blip r:embed="rId3"/>
            <a:stretch>
              <a:fillRect l="0" t="0" r="0" b="0"/>
            </a:stretch>
          </a:blipFill>
        </p:spPr>
      </p:sp>
      <p:sp>
        <p:nvSpPr>
          <p:cNvPr name="Freeform 5" id="5"/>
          <p:cNvSpPr/>
          <p:nvPr/>
        </p:nvSpPr>
        <p:spPr>
          <a:xfrm flipH="false" flipV="false" rot="0">
            <a:off x="8052655" y="334151"/>
            <a:ext cx="9066312" cy="4669151"/>
          </a:xfrm>
          <a:custGeom>
            <a:avLst/>
            <a:gdLst/>
            <a:ahLst/>
            <a:cxnLst/>
            <a:rect r="r" b="b" t="t" l="l"/>
            <a:pathLst>
              <a:path h="4669151" w="9066312">
                <a:moveTo>
                  <a:pt x="0" y="0"/>
                </a:moveTo>
                <a:lnTo>
                  <a:pt x="9066312" y="0"/>
                </a:lnTo>
                <a:lnTo>
                  <a:pt x="9066312" y="4669150"/>
                </a:lnTo>
                <a:lnTo>
                  <a:pt x="0" y="4669150"/>
                </a:lnTo>
                <a:lnTo>
                  <a:pt x="0" y="0"/>
                </a:lnTo>
                <a:close/>
              </a:path>
            </a:pathLst>
          </a:custGeom>
          <a:blipFill>
            <a:blip r:embed="rId4"/>
            <a:stretch>
              <a:fillRect l="0" t="0" r="0" b="0"/>
            </a:stretch>
          </a:blipFill>
        </p:spPr>
      </p:sp>
      <p:sp>
        <p:nvSpPr>
          <p:cNvPr name="Freeform 6" id="6"/>
          <p:cNvSpPr/>
          <p:nvPr/>
        </p:nvSpPr>
        <p:spPr>
          <a:xfrm flipH="false" flipV="false" rot="0">
            <a:off x="8053511" y="5293289"/>
            <a:ext cx="9065456" cy="4680042"/>
          </a:xfrm>
          <a:custGeom>
            <a:avLst/>
            <a:gdLst/>
            <a:ahLst/>
            <a:cxnLst/>
            <a:rect r="r" b="b" t="t" l="l"/>
            <a:pathLst>
              <a:path h="4680042" w="9065456">
                <a:moveTo>
                  <a:pt x="0" y="0"/>
                </a:moveTo>
                <a:lnTo>
                  <a:pt x="9065456" y="0"/>
                </a:lnTo>
                <a:lnTo>
                  <a:pt x="9065456" y="4680041"/>
                </a:lnTo>
                <a:lnTo>
                  <a:pt x="0" y="4680041"/>
                </a:lnTo>
                <a:lnTo>
                  <a:pt x="0" y="0"/>
                </a:lnTo>
                <a:close/>
              </a:path>
            </a:pathLst>
          </a:custGeom>
          <a:blipFill>
            <a:blip r:embed="rId5"/>
            <a:stretch>
              <a:fillRect l="0" t="0" r="0" b="0"/>
            </a:stretch>
          </a:blipFill>
        </p:spPr>
      </p:sp>
      <p:sp>
        <p:nvSpPr>
          <p:cNvPr name="TextBox 7" id="7"/>
          <p:cNvSpPr txBox="true"/>
          <p:nvPr/>
        </p:nvSpPr>
        <p:spPr>
          <a:xfrm rot="0">
            <a:off x="1028700" y="2258022"/>
            <a:ext cx="4789008" cy="748409"/>
          </a:xfrm>
          <a:prstGeom prst="rect">
            <a:avLst/>
          </a:prstGeom>
        </p:spPr>
        <p:txBody>
          <a:bodyPr anchor="t" rtlCol="false" tIns="0" lIns="0" bIns="0" rIns="0">
            <a:spAutoFit/>
          </a:bodyPr>
          <a:lstStyle/>
          <a:p>
            <a:pPr algn="ctr">
              <a:lnSpc>
                <a:spcPts val="6123"/>
              </a:lnSpc>
            </a:pPr>
            <a:r>
              <a:rPr lang="en-US" sz="4373" b="true">
                <a:solidFill>
                  <a:srgbClr val="000000"/>
                </a:solidFill>
                <a:latin typeface="Canva Sans Bold"/>
                <a:ea typeface="Canva Sans Bold"/>
                <a:cs typeface="Canva Sans Bold"/>
                <a:sym typeface="Canva Sans Bold"/>
              </a:rPr>
              <a:t>Home page</a:t>
            </a:r>
          </a:p>
        </p:txBody>
      </p:sp>
      <p:sp>
        <p:nvSpPr>
          <p:cNvPr name="TextBox 8" id="8"/>
          <p:cNvSpPr txBox="true"/>
          <p:nvPr/>
        </p:nvSpPr>
        <p:spPr>
          <a:xfrm rot="0">
            <a:off x="1028700" y="7211480"/>
            <a:ext cx="4789008" cy="748409"/>
          </a:xfrm>
          <a:prstGeom prst="rect">
            <a:avLst/>
          </a:prstGeom>
        </p:spPr>
        <p:txBody>
          <a:bodyPr anchor="t" rtlCol="false" tIns="0" lIns="0" bIns="0" rIns="0">
            <a:spAutoFit/>
          </a:bodyPr>
          <a:lstStyle/>
          <a:p>
            <a:pPr algn="ctr">
              <a:lnSpc>
                <a:spcPts val="6123"/>
              </a:lnSpc>
            </a:pPr>
            <a:r>
              <a:rPr lang="en-US" sz="4373" b="true">
                <a:solidFill>
                  <a:srgbClr val="000000"/>
                </a:solidFill>
                <a:latin typeface="Canva Sans Bold"/>
                <a:ea typeface="Canva Sans Bold"/>
                <a:cs typeface="Canva Sans Bold"/>
                <a:sym typeface="Canva Sans Bold"/>
              </a:rPr>
              <a:t>Expenses page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52655" y="5293289"/>
            <a:ext cx="9087460" cy="4680042"/>
          </a:xfrm>
          <a:custGeom>
            <a:avLst/>
            <a:gdLst/>
            <a:ahLst/>
            <a:cxnLst/>
            <a:rect r="r" b="b" t="t" l="l"/>
            <a:pathLst>
              <a:path h="4680042" w="9087460">
                <a:moveTo>
                  <a:pt x="0" y="0"/>
                </a:moveTo>
                <a:lnTo>
                  <a:pt x="9087459" y="0"/>
                </a:lnTo>
                <a:lnTo>
                  <a:pt x="9087459" y="4680041"/>
                </a:lnTo>
                <a:lnTo>
                  <a:pt x="0" y="4680041"/>
                </a:lnTo>
                <a:lnTo>
                  <a:pt x="0" y="0"/>
                </a:lnTo>
                <a:close/>
              </a:path>
            </a:pathLst>
          </a:custGeom>
          <a:blipFill>
            <a:blip r:embed="rId2"/>
            <a:stretch>
              <a:fillRect l="0" t="0" r="0" b="0"/>
            </a:stretch>
          </a:blipFill>
        </p:spPr>
      </p:sp>
      <p:sp>
        <p:nvSpPr>
          <p:cNvPr name="Freeform 3" id="3"/>
          <p:cNvSpPr/>
          <p:nvPr/>
        </p:nvSpPr>
        <p:spPr>
          <a:xfrm flipH="false" flipV="false" rot="0">
            <a:off x="8052655" y="334151"/>
            <a:ext cx="9087460" cy="4680042"/>
          </a:xfrm>
          <a:custGeom>
            <a:avLst/>
            <a:gdLst/>
            <a:ahLst/>
            <a:cxnLst/>
            <a:rect r="r" b="b" t="t" l="l"/>
            <a:pathLst>
              <a:path h="4680042" w="9087460">
                <a:moveTo>
                  <a:pt x="0" y="0"/>
                </a:moveTo>
                <a:lnTo>
                  <a:pt x="9087459" y="0"/>
                </a:lnTo>
                <a:lnTo>
                  <a:pt x="9087459" y="4680041"/>
                </a:lnTo>
                <a:lnTo>
                  <a:pt x="0" y="4680041"/>
                </a:lnTo>
                <a:lnTo>
                  <a:pt x="0" y="0"/>
                </a:lnTo>
                <a:close/>
              </a:path>
            </a:pathLst>
          </a:custGeom>
          <a:blipFill>
            <a:blip r:embed="rId2"/>
            <a:stretch>
              <a:fillRect l="0" t="0" r="0" b="0"/>
            </a:stretch>
          </a:blipFill>
        </p:spPr>
      </p:sp>
      <p:sp>
        <p:nvSpPr>
          <p:cNvPr name="Freeform 4" id="4"/>
          <p:cNvSpPr/>
          <p:nvPr/>
        </p:nvSpPr>
        <p:spPr>
          <a:xfrm flipH="false" flipV="false" rot="0">
            <a:off x="8052655" y="334151"/>
            <a:ext cx="9087460" cy="4691401"/>
          </a:xfrm>
          <a:custGeom>
            <a:avLst/>
            <a:gdLst/>
            <a:ahLst/>
            <a:cxnLst/>
            <a:rect r="r" b="b" t="t" l="l"/>
            <a:pathLst>
              <a:path h="4691401" w="9087460">
                <a:moveTo>
                  <a:pt x="0" y="0"/>
                </a:moveTo>
                <a:lnTo>
                  <a:pt x="9087459" y="0"/>
                </a:lnTo>
                <a:lnTo>
                  <a:pt x="9087459" y="4691401"/>
                </a:lnTo>
                <a:lnTo>
                  <a:pt x="0" y="4691401"/>
                </a:lnTo>
                <a:lnTo>
                  <a:pt x="0" y="0"/>
                </a:lnTo>
                <a:close/>
              </a:path>
            </a:pathLst>
          </a:custGeom>
          <a:blipFill>
            <a:blip r:embed="rId3"/>
            <a:stretch>
              <a:fillRect l="0" t="0" r="0" b="0"/>
            </a:stretch>
          </a:blipFill>
        </p:spPr>
      </p:sp>
      <p:sp>
        <p:nvSpPr>
          <p:cNvPr name="Freeform 5" id="5"/>
          <p:cNvSpPr/>
          <p:nvPr/>
        </p:nvSpPr>
        <p:spPr>
          <a:xfrm flipH="false" flipV="false" rot="0">
            <a:off x="8052655" y="334151"/>
            <a:ext cx="9066312" cy="4669151"/>
          </a:xfrm>
          <a:custGeom>
            <a:avLst/>
            <a:gdLst/>
            <a:ahLst/>
            <a:cxnLst/>
            <a:rect r="r" b="b" t="t" l="l"/>
            <a:pathLst>
              <a:path h="4669151" w="9066312">
                <a:moveTo>
                  <a:pt x="0" y="0"/>
                </a:moveTo>
                <a:lnTo>
                  <a:pt x="9066312" y="0"/>
                </a:lnTo>
                <a:lnTo>
                  <a:pt x="9066312" y="4669150"/>
                </a:lnTo>
                <a:lnTo>
                  <a:pt x="0" y="4669150"/>
                </a:lnTo>
                <a:lnTo>
                  <a:pt x="0" y="0"/>
                </a:lnTo>
                <a:close/>
              </a:path>
            </a:pathLst>
          </a:custGeom>
          <a:blipFill>
            <a:blip r:embed="rId4"/>
            <a:stretch>
              <a:fillRect l="0" t="0" r="0" b="0"/>
            </a:stretch>
          </a:blipFill>
        </p:spPr>
      </p:sp>
      <p:sp>
        <p:nvSpPr>
          <p:cNvPr name="Freeform 6" id="6"/>
          <p:cNvSpPr/>
          <p:nvPr/>
        </p:nvSpPr>
        <p:spPr>
          <a:xfrm flipH="false" flipV="false" rot="0">
            <a:off x="8053511" y="5293289"/>
            <a:ext cx="9065456" cy="4680042"/>
          </a:xfrm>
          <a:custGeom>
            <a:avLst/>
            <a:gdLst/>
            <a:ahLst/>
            <a:cxnLst/>
            <a:rect r="r" b="b" t="t" l="l"/>
            <a:pathLst>
              <a:path h="4680042" w="9065456">
                <a:moveTo>
                  <a:pt x="0" y="0"/>
                </a:moveTo>
                <a:lnTo>
                  <a:pt x="9065456" y="0"/>
                </a:lnTo>
                <a:lnTo>
                  <a:pt x="9065456" y="4680041"/>
                </a:lnTo>
                <a:lnTo>
                  <a:pt x="0" y="4680041"/>
                </a:lnTo>
                <a:lnTo>
                  <a:pt x="0" y="0"/>
                </a:lnTo>
                <a:close/>
              </a:path>
            </a:pathLst>
          </a:custGeom>
          <a:blipFill>
            <a:blip r:embed="rId5"/>
            <a:stretch>
              <a:fillRect l="0" t="0" r="0" b="0"/>
            </a:stretch>
          </a:blipFill>
        </p:spPr>
      </p:sp>
      <p:sp>
        <p:nvSpPr>
          <p:cNvPr name="Freeform 7" id="7"/>
          <p:cNvSpPr/>
          <p:nvPr/>
        </p:nvSpPr>
        <p:spPr>
          <a:xfrm flipH="false" flipV="false" rot="0">
            <a:off x="8053511" y="334151"/>
            <a:ext cx="9065456" cy="4668710"/>
          </a:xfrm>
          <a:custGeom>
            <a:avLst/>
            <a:gdLst/>
            <a:ahLst/>
            <a:cxnLst/>
            <a:rect r="r" b="b" t="t" l="l"/>
            <a:pathLst>
              <a:path h="4668710" w="9065456">
                <a:moveTo>
                  <a:pt x="0" y="0"/>
                </a:moveTo>
                <a:lnTo>
                  <a:pt x="9065456" y="0"/>
                </a:lnTo>
                <a:lnTo>
                  <a:pt x="9065456" y="4668709"/>
                </a:lnTo>
                <a:lnTo>
                  <a:pt x="0" y="4668709"/>
                </a:lnTo>
                <a:lnTo>
                  <a:pt x="0" y="0"/>
                </a:lnTo>
                <a:close/>
              </a:path>
            </a:pathLst>
          </a:custGeom>
          <a:blipFill>
            <a:blip r:embed="rId6"/>
            <a:stretch>
              <a:fillRect l="0" t="0" r="0" b="0"/>
            </a:stretch>
          </a:blipFill>
        </p:spPr>
      </p:sp>
      <p:sp>
        <p:nvSpPr>
          <p:cNvPr name="Freeform 8" id="8"/>
          <p:cNvSpPr/>
          <p:nvPr/>
        </p:nvSpPr>
        <p:spPr>
          <a:xfrm flipH="false" flipV="false" rot="0">
            <a:off x="8052655" y="5293289"/>
            <a:ext cx="9087460" cy="4691401"/>
          </a:xfrm>
          <a:custGeom>
            <a:avLst/>
            <a:gdLst/>
            <a:ahLst/>
            <a:cxnLst/>
            <a:rect r="r" b="b" t="t" l="l"/>
            <a:pathLst>
              <a:path h="4691401" w="9087460">
                <a:moveTo>
                  <a:pt x="0" y="0"/>
                </a:moveTo>
                <a:lnTo>
                  <a:pt x="9087459" y="0"/>
                </a:lnTo>
                <a:lnTo>
                  <a:pt x="9087459" y="4691401"/>
                </a:lnTo>
                <a:lnTo>
                  <a:pt x="0" y="4691401"/>
                </a:lnTo>
                <a:lnTo>
                  <a:pt x="0" y="0"/>
                </a:lnTo>
                <a:close/>
              </a:path>
            </a:pathLst>
          </a:custGeom>
          <a:blipFill>
            <a:blip r:embed="rId7"/>
            <a:stretch>
              <a:fillRect l="0" t="0" r="0" b="0"/>
            </a:stretch>
          </a:blipFill>
        </p:spPr>
      </p:sp>
      <p:sp>
        <p:nvSpPr>
          <p:cNvPr name="TextBox 9" id="9"/>
          <p:cNvSpPr txBox="true"/>
          <p:nvPr/>
        </p:nvSpPr>
        <p:spPr>
          <a:xfrm rot="0">
            <a:off x="1028700" y="2258022"/>
            <a:ext cx="4789008" cy="748409"/>
          </a:xfrm>
          <a:prstGeom prst="rect">
            <a:avLst/>
          </a:prstGeom>
        </p:spPr>
        <p:txBody>
          <a:bodyPr anchor="t" rtlCol="false" tIns="0" lIns="0" bIns="0" rIns="0">
            <a:spAutoFit/>
          </a:bodyPr>
          <a:lstStyle/>
          <a:p>
            <a:pPr algn="ctr">
              <a:lnSpc>
                <a:spcPts val="6123"/>
              </a:lnSpc>
            </a:pPr>
            <a:r>
              <a:rPr lang="en-US" sz="4373" b="true">
                <a:solidFill>
                  <a:srgbClr val="000000"/>
                </a:solidFill>
                <a:latin typeface="Canva Sans Bold"/>
                <a:ea typeface="Canva Sans Bold"/>
                <a:cs typeface="Canva Sans Bold"/>
                <a:sym typeface="Canva Sans Bold"/>
              </a:rPr>
              <a:t>Categories page</a:t>
            </a:r>
          </a:p>
        </p:txBody>
      </p:sp>
      <p:sp>
        <p:nvSpPr>
          <p:cNvPr name="TextBox 10" id="10"/>
          <p:cNvSpPr txBox="true"/>
          <p:nvPr/>
        </p:nvSpPr>
        <p:spPr>
          <a:xfrm rot="0">
            <a:off x="1028700" y="7211480"/>
            <a:ext cx="4789008" cy="748409"/>
          </a:xfrm>
          <a:prstGeom prst="rect">
            <a:avLst/>
          </a:prstGeom>
        </p:spPr>
        <p:txBody>
          <a:bodyPr anchor="t" rtlCol="false" tIns="0" lIns="0" bIns="0" rIns="0">
            <a:spAutoFit/>
          </a:bodyPr>
          <a:lstStyle/>
          <a:p>
            <a:pPr algn="ctr">
              <a:lnSpc>
                <a:spcPts val="6123"/>
              </a:lnSpc>
            </a:pPr>
            <a:r>
              <a:rPr lang="en-US" sz="4373" b="true">
                <a:solidFill>
                  <a:srgbClr val="000000"/>
                </a:solidFill>
                <a:latin typeface="Canva Sans Bold"/>
                <a:ea typeface="Canva Sans Bold"/>
                <a:cs typeface="Canva Sans Bold"/>
                <a:sym typeface="Canva Sans Bold"/>
              </a:rPr>
              <a:t>Reports page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52655" y="5293289"/>
            <a:ext cx="9087460" cy="4680042"/>
          </a:xfrm>
          <a:custGeom>
            <a:avLst/>
            <a:gdLst/>
            <a:ahLst/>
            <a:cxnLst/>
            <a:rect r="r" b="b" t="t" l="l"/>
            <a:pathLst>
              <a:path h="4680042" w="9087460">
                <a:moveTo>
                  <a:pt x="0" y="0"/>
                </a:moveTo>
                <a:lnTo>
                  <a:pt x="9087459" y="0"/>
                </a:lnTo>
                <a:lnTo>
                  <a:pt x="9087459" y="4680041"/>
                </a:lnTo>
                <a:lnTo>
                  <a:pt x="0" y="4680041"/>
                </a:lnTo>
                <a:lnTo>
                  <a:pt x="0" y="0"/>
                </a:lnTo>
                <a:close/>
              </a:path>
            </a:pathLst>
          </a:custGeom>
          <a:blipFill>
            <a:blip r:embed="rId2"/>
            <a:stretch>
              <a:fillRect l="0" t="0" r="0" b="0"/>
            </a:stretch>
          </a:blipFill>
        </p:spPr>
      </p:sp>
      <p:sp>
        <p:nvSpPr>
          <p:cNvPr name="Freeform 3" id="3"/>
          <p:cNvSpPr/>
          <p:nvPr/>
        </p:nvSpPr>
        <p:spPr>
          <a:xfrm flipH="false" flipV="false" rot="0">
            <a:off x="8052655" y="334151"/>
            <a:ext cx="9087460" cy="4680042"/>
          </a:xfrm>
          <a:custGeom>
            <a:avLst/>
            <a:gdLst/>
            <a:ahLst/>
            <a:cxnLst/>
            <a:rect r="r" b="b" t="t" l="l"/>
            <a:pathLst>
              <a:path h="4680042" w="9087460">
                <a:moveTo>
                  <a:pt x="0" y="0"/>
                </a:moveTo>
                <a:lnTo>
                  <a:pt x="9087459" y="0"/>
                </a:lnTo>
                <a:lnTo>
                  <a:pt x="9087459" y="4680041"/>
                </a:lnTo>
                <a:lnTo>
                  <a:pt x="0" y="4680041"/>
                </a:lnTo>
                <a:lnTo>
                  <a:pt x="0" y="0"/>
                </a:lnTo>
                <a:close/>
              </a:path>
            </a:pathLst>
          </a:custGeom>
          <a:blipFill>
            <a:blip r:embed="rId2"/>
            <a:stretch>
              <a:fillRect l="0" t="0" r="0" b="0"/>
            </a:stretch>
          </a:blipFill>
        </p:spPr>
      </p:sp>
      <p:sp>
        <p:nvSpPr>
          <p:cNvPr name="Freeform 4" id="4"/>
          <p:cNvSpPr/>
          <p:nvPr/>
        </p:nvSpPr>
        <p:spPr>
          <a:xfrm flipH="false" flipV="false" rot="0">
            <a:off x="8052655" y="334151"/>
            <a:ext cx="9087460" cy="4691401"/>
          </a:xfrm>
          <a:custGeom>
            <a:avLst/>
            <a:gdLst/>
            <a:ahLst/>
            <a:cxnLst/>
            <a:rect r="r" b="b" t="t" l="l"/>
            <a:pathLst>
              <a:path h="4691401" w="9087460">
                <a:moveTo>
                  <a:pt x="0" y="0"/>
                </a:moveTo>
                <a:lnTo>
                  <a:pt x="9087459" y="0"/>
                </a:lnTo>
                <a:lnTo>
                  <a:pt x="9087459" y="4691401"/>
                </a:lnTo>
                <a:lnTo>
                  <a:pt x="0" y="4691401"/>
                </a:lnTo>
                <a:lnTo>
                  <a:pt x="0" y="0"/>
                </a:lnTo>
                <a:close/>
              </a:path>
            </a:pathLst>
          </a:custGeom>
          <a:blipFill>
            <a:blip r:embed="rId3"/>
            <a:stretch>
              <a:fillRect l="0" t="0" r="0" b="0"/>
            </a:stretch>
          </a:blipFill>
        </p:spPr>
      </p:sp>
      <p:sp>
        <p:nvSpPr>
          <p:cNvPr name="Freeform 5" id="5"/>
          <p:cNvSpPr/>
          <p:nvPr/>
        </p:nvSpPr>
        <p:spPr>
          <a:xfrm flipH="false" flipV="false" rot="0">
            <a:off x="8052655" y="334151"/>
            <a:ext cx="9066312" cy="4669151"/>
          </a:xfrm>
          <a:custGeom>
            <a:avLst/>
            <a:gdLst/>
            <a:ahLst/>
            <a:cxnLst/>
            <a:rect r="r" b="b" t="t" l="l"/>
            <a:pathLst>
              <a:path h="4669151" w="9066312">
                <a:moveTo>
                  <a:pt x="0" y="0"/>
                </a:moveTo>
                <a:lnTo>
                  <a:pt x="9066312" y="0"/>
                </a:lnTo>
                <a:lnTo>
                  <a:pt x="9066312" y="4669150"/>
                </a:lnTo>
                <a:lnTo>
                  <a:pt x="0" y="4669150"/>
                </a:lnTo>
                <a:lnTo>
                  <a:pt x="0" y="0"/>
                </a:lnTo>
                <a:close/>
              </a:path>
            </a:pathLst>
          </a:custGeom>
          <a:blipFill>
            <a:blip r:embed="rId4"/>
            <a:stretch>
              <a:fillRect l="0" t="0" r="0" b="0"/>
            </a:stretch>
          </a:blipFill>
        </p:spPr>
      </p:sp>
      <p:sp>
        <p:nvSpPr>
          <p:cNvPr name="Freeform 6" id="6"/>
          <p:cNvSpPr/>
          <p:nvPr/>
        </p:nvSpPr>
        <p:spPr>
          <a:xfrm flipH="false" flipV="false" rot="0">
            <a:off x="8053511" y="5293289"/>
            <a:ext cx="9065456" cy="4680042"/>
          </a:xfrm>
          <a:custGeom>
            <a:avLst/>
            <a:gdLst/>
            <a:ahLst/>
            <a:cxnLst/>
            <a:rect r="r" b="b" t="t" l="l"/>
            <a:pathLst>
              <a:path h="4680042" w="9065456">
                <a:moveTo>
                  <a:pt x="0" y="0"/>
                </a:moveTo>
                <a:lnTo>
                  <a:pt x="9065456" y="0"/>
                </a:lnTo>
                <a:lnTo>
                  <a:pt x="9065456" y="4680041"/>
                </a:lnTo>
                <a:lnTo>
                  <a:pt x="0" y="4680041"/>
                </a:lnTo>
                <a:lnTo>
                  <a:pt x="0" y="0"/>
                </a:lnTo>
                <a:close/>
              </a:path>
            </a:pathLst>
          </a:custGeom>
          <a:blipFill>
            <a:blip r:embed="rId5"/>
            <a:stretch>
              <a:fillRect l="0" t="0" r="0" b="0"/>
            </a:stretch>
          </a:blipFill>
        </p:spPr>
      </p:sp>
      <p:sp>
        <p:nvSpPr>
          <p:cNvPr name="Freeform 7" id="7"/>
          <p:cNvSpPr/>
          <p:nvPr/>
        </p:nvSpPr>
        <p:spPr>
          <a:xfrm flipH="false" flipV="false" rot="0">
            <a:off x="8053511" y="334151"/>
            <a:ext cx="9065456" cy="4668710"/>
          </a:xfrm>
          <a:custGeom>
            <a:avLst/>
            <a:gdLst/>
            <a:ahLst/>
            <a:cxnLst/>
            <a:rect r="r" b="b" t="t" l="l"/>
            <a:pathLst>
              <a:path h="4668710" w="9065456">
                <a:moveTo>
                  <a:pt x="0" y="0"/>
                </a:moveTo>
                <a:lnTo>
                  <a:pt x="9065456" y="0"/>
                </a:lnTo>
                <a:lnTo>
                  <a:pt x="9065456" y="4668709"/>
                </a:lnTo>
                <a:lnTo>
                  <a:pt x="0" y="4668709"/>
                </a:lnTo>
                <a:lnTo>
                  <a:pt x="0" y="0"/>
                </a:lnTo>
                <a:close/>
              </a:path>
            </a:pathLst>
          </a:custGeom>
          <a:blipFill>
            <a:blip r:embed="rId6"/>
            <a:stretch>
              <a:fillRect l="0" t="0" r="0" b="0"/>
            </a:stretch>
          </a:blipFill>
        </p:spPr>
      </p:sp>
      <p:sp>
        <p:nvSpPr>
          <p:cNvPr name="Freeform 8" id="8"/>
          <p:cNvSpPr/>
          <p:nvPr/>
        </p:nvSpPr>
        <p:spPr>
          <a:xfrm flipH="false" flipV="false" rot="0">
            <a:off x="8052655" y="5293289"/>
            <a:ext cx="9087460" cy="4691401"/>
          </a:xfrm>
          <a:custGeom>
            <a:avLst/>
            <a:gdLst/>
            <a:ahLst/>
            <a:cxnLst/>
            <a:rect r="r" b="b" t="t" l="l"/>
            <a:pathLst>
              <a:path h="4691401" w="9087460">
                <a:moveTo>
                  <a:pt x="0" y="0"/>
                </a:moveTo>
                <a:lnTo>
                  <a:pt x="9087459" y="0"/>
                </a:lnTo>
                <a:lnTo>
                  <a:pt x="9087459" y="4691401"/>
                </a:lnTo>
                <a:lnTo>
                  <a:pt x="0" y="4691401"/>
                </a:lnTo>
                <a:lnTo>
                  <a:pt x="0" y="0"/>
                </a:lnTo>
                <a:close/>
              </a:path>
            </a:pathLst>
          </a:custGeom>
          <a:blipFill>
            <a:blip r:embed="rId7"/>
            <a:stretch>
              <a:fillRect l="0" t="0" r="0" b="0"/>
            </a:stretch>
          </a:blipFill>
        </p:spPr>
      </p:sp>
      <p:sp>
        <p:nvSpPr>
          <p:cNvPr name="Freeform 9" id="9"/>
          <p:cNvSpPr/>
          <p:nvPr/>
        </p:nvSpPr>
        <p:spPr>
          <a:xfrm flipH="false" flipV="false" rot="0">
            <a:off x="8075461" y="334151"/>
            <a:ext cx="9043506" cy="4668710"/>
          </a:xfrm>
          <a:custGeom>
            <a:avLst/>
            <a:gdLst/>
            <a:ahLst/>
            <a:cxnLst/>
            <a:rect r="r" b="b" t="t" l="l"/>
            <a:pathLst>
              <a:path h="4668710" w="9043506">
                <a:moveTo>
                  <a:pt x="0" y="0"/>
                </a:moveTo>
                <a:lnTo>
                  <a:pt x="9043506" y="0"/>
                </a:lnTo>
                <a:lnTo>
                  <a:pt x="9043506" y="4668709"/>
                </a:lnTo>
                <a:lnTo>
                  <a:pt x="0" y="4668709"/>
                </a:lnTo>
                <a:lnTo>
                  <a:pt x="0" y="0"/>
                </a:lnTo>
                <a:close/>
              </a:path>
            </a:pathLst>
          </a:custGeom>
          <a:blipFill>
            <a:blip r:embed="rId8"/>
            <a:stretch>
              <a:fillRect l="0" t="0" r="0" b="0"/>
            </a:stretch>
          </a:blipFill>
        </p:spPr>
      </p:sp>
      <p:sp>
        <p:nvSpPr>
          <p:cNvPr name="Freeform 10" id="10"/>
          <p:cNvSpPr/>
          <p:nvPr/>
        </p:nvSpPr>
        <p:spPr>
          <a:xfrm flipH="false" flipV="false" rot="0">
            <a:off x="8075461" y="334151"/>
            <a:ext cx="9043506" cy="4668710"/>
          </a:xfrm>
          <a:custGeom>
            <a:avLst/>
            <a:gdLst/>
            <a:ahLst/>
            <a:cxnLst/>
            <a:rect r="r" b="b" t="t" l="l"/>
            <a:pathLst>
              <a:path h="4668710" w="9043506">
                <a:moveTo>
                  <a:pt x="0" y="0"/>
                </a:moveTo>
                <a:lnTo>
                  <a:pt x="9043506" y="0"/>
                </a:lnTo>
                <a:lnTo>
                  <a:pt x="9043506" y="4668709"/>
                </a:lnTo>
                <a:lnTo>
                  <a:pt x="0" y="4668709"/>
                </a:lnTo>
                <a:lnTo>
                  <a:pt x="0" y="0"/>
                </a:lnTo>
                <a:close/>
              </a:path>
            </a:pathLst>
          </a:custGeom>
          <a:blipFill>
            <a:blip r:embed="rId9"/>
            <a:stretch>
              <a:fillRect l="0" t="0" r="0" b="0"/>
            </a:stretch>
          </a:blipFill>
        </p:spPr>
      </p:sp>
      <p:sp>
        <p:nvSpPr>
          <p:cNvPr name="Freeform 11" id="11"/>
          <p:cNvSpPr/>
          <p:nvPr/>
        </p:nvSpPr>
        <p:spPr>
          <a:xfrm flipH="false" flipV="false" rot="0">
            <a:off x="8075461" y="5304620"/>
            <a:ext cx="9043506" cy="4668710"/>
          </a:xfrm>
          <a:custGeom>
            <a:avLst/>
            <a:gdLst/>
            <a:ahLst/>
            <a:cxnLst/>
            <a:rect r="r" b="b" t="t" l="l"/>
            <a:pathLst>
              <a:path h="4668710" w="9043506">
                <a:moveTo>
                  <a:pt x="0" y="0"/>
                </a:moveTo>
                <a:lnTo>
                  <a:pt x="9043506" y="0"/>
                </a:lnTo>
                <a:lnTo>
                  <a:pt x="9043506" y="4668710"/>
                </a:lnTo>
                <a:lnTo>
                  <a:pt x="0" y="4668710"/>
                </a:lnTo>
                <a:lnTo>
                  <a:pt x="0" y="0"/>
                </a:lnTo>
                <a:close/>
              </a:path>
            </a:pathLst>
          </a:custGeom>
          <a:blipFill>
            <a:blip r:embed="rId10"/>
            <a:stretch>
              <a:fillRect l="0" t="0" r="0" b="0"/>
            </a:stretch>
          </a:blipFill>
        </p:spPr>
      </p:sp>
      <p:sp>
        <p:nvSpPr>
          <p:cNvPr name="TextBox 12" id="12"/>
          <p:cNvSpPr txBox="true"/>
          <p:nvPr/>
        </p:nvSpPr>
        <p:spPr>
          <a:xfrm rot="0">
            <a:off x="1028700" y="2258022"/>
            <a:ext cx="4789008" cy="748409"/>
          </a:xfrm>
          <a:prstGeom prst="rect">
            <a:avLst/>
          </a:prstGeom>
        </p:spPr>
        <p:txBody>
          <a:bodyPr anchor="t" rtlCol="false" tIns="0" lIns="0" bIns="0" rIns="0">
            <a:spAutoFit/>
          </a:bodyPr>
          <a:lstStyle/>
          <a:p>
            <a:pPr algn="ctr">
              <a:lnSpc>
                <a:spcPts val="6123"/>
              </a:lnSpc>
            </a:pPr>
            <a:r>
              <a:rPr lang="en-US" sz="4373" b="true">
                <a:solidFill>
                  <a:srgbClr val="000000"/>
                </a:solidFill>
                <a:latin typeface="Canva Sans Bold"/>
                <a:ea typeface="Canva Sans Bold"/>
                <a:cs typeface="Canva Sans Bold"/>
                <a:sym typeface="Canva Sans Bold"/>
              </a:rPr>
              <a:t>Budget page</a:t>
            </a:r>
          </a:p>
        </p:txBody>
      </p:sp>
      <p:sp>
        <p:nvSpPr>
          <p:cNvPr name="TextBox 13" id="13"/>
          <p:cNvSpPr txBox="true"/>
          <p:nvPr/>
        </p:nvSpPr>
        <p:spPr>
          <a:xfrm rot="0">
            <a:off x="1028700" y="7211480"/>
            <a:ext cx="4789008" cy="748409"/>
          </a:xfrm>
          <a:prstGeom prst="rect">
            <a:avLst/>
          </a:prstGeom>
        </p:spPr>
        <p:txBody>
          <a:bodyPr anchor="t" rtlCol="false" tIns="0" lIns="0" bIns="0" rIns="0">
            <a:spAutoFit/>
          </a:bodyPr>
          <a:lstStyle/>
          <a:p>
            <a:pPr algn="ctr">
              <a:lnSpc>
                <a:spcPts val="6123"/>
              </a:lnSpc>
            </a:pPr>
            <a:r>
              <a:rPr lang="en-US" sz="4373" b="true">
                <a:solidFill>
                  <a:srgbClr val="000000"/>
                </a:solidFill>
                <a:latin typeface="Canva Sans Bold"/>
                <a:ea typeface="Canva Sans Bold"/>
                <a:cs typeface="Canva Sans Bold"/>
                <a:sym typeface="Canva Sans Bold"/>
              </a:rPr>
              <a:t>Settings page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81075"/>
            <a:ext cx="16230600" cy="1770044"/>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Navigation</a:t>
            </a:r>
          </a:p>
          <a:p>
            <a:pPr algn="l">
              <a:lnSpc>
                <a:spcPts val="3580"/>
              </a:lnSpc>
            </a:pPr>
            <a:r>
              <a:rPr lang="en-US" sz="2557">
                <a:solidFill>
                  <a:srgbClr val="000000"/>
                </a:solidFill>
                <a:latin typeface="Canva Sans"/>
                <a:ea typeface="Canva Sans"/>
                <a:cs typeface="Canva Sans"/>
                <a:sym typeface="Canva Sans"/>
              </a:rPr>
              <a:t>• The website uses a fixed sidebar menu that allows users to quickly access main features such as Home, Expenses, Categories, Reports, Budget, and Settings.</a:t>
            </a:r>
          </a:p>
          <a:p>
            <a:pPr algn="l">
              <a:lnSpc>
                <a:spcPts val="3580"/>
              </a:lnSpc>
            </a:pPr>
            <a:r>
              <a:rPr lang="en-US" sz="2557">
                <a:solidFill>
                  <a:srgbClr val="000000"/>
                </a:solidFill>
                <a:latin typeface="Canva Sans"/>
                <a:ea typeface="Canva Sans"/>
                <a:cs typeface="Canva Sans"/>
                <a:sym typeface="Canva Sans"/>
              </a:rPr>
              <a:t>• Clear page titles and buttons help users understand their current location in the system.</a:t>
            </a:r>
          </a:p>
        </p:txBody>
      </p:sp>
      <p:sp>
        <p:nvSpPr>
          <p:cNvPr name="TextBox 3" id="3"/>
          <p:cNvSpPr txBox="true"/>
          <p:nvPr/>
        </p:nvSpPr>
        <p:spPr>
          <a:xfrm rot="0">
            <a:off x="1028700" y="3080549"/>
            <a:ext cx="16230600" cy="2216888"/>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Responsive Design</a:t>
            </a:r>
          </a:p>
          <a:p>
            <a:pPr algn="l">
              <a:lnSpc>
                <a:spcPts val="3580"/>
              </a:lnSpc>
            </a:pPr>
            <a:r>
              <a:rPr lang="en-US" sz="2557">
                <a:solidFill>
                  <a:srgbClr val="000000"/>
                </a:solidFill>
                <a:latin typeface="Canva Sans"/>
                <a:ea typeface="Canva Sans"/>
                <a:cs typeface="Canva Sans"/>
                <a:sym typeface="Canva Sans"/>
              </a:rPr>
              <a:t>• The website adjusts its layout depending on the device. While the design may look different on desktop and mobile, all features still work properly.</a:t>
            </a:r>
          </a:p>
          <a:p>
            <a:pPr algn="l">
              <a:lnSpc>
                <a:spcPts val="3580"/>
              </a:lnSpc>
            </a:pPr>
            <a:r>
              <a:rPr lang="en-US" sz="2557">
                <a:solidFill>
                  <a:srgbClr val="000000"/>
                </a:solidFill>
                <a:latin typeface="Canva Sans"/>
                <a:ea typeface="Canva Sans"/>
                <a:cs typeface="Canva Sans"/>
                <a:sym typeface="Canva Sans"/>
              </a:rPr>
              <a:t>• Tables, cards, and forms automatically resize or reposition to fit the screen.</a:t>
            </a:r>
          </a:p>
          <a:p>
            <a:pPr algn="l">
              <a:lnSpc>
                <a:spcPts val="3580"/>
              </a:lnSpc>
            </a:pPr>
          </a:p>
        </p:txBody>
      </p:sp>
      <p:sp>
        <p:nvSpPr>
          <p:cNvPr name="TextBox 4" id="4"/>
          <p:cNvSpPr txBox="true"/>
          <p:nvPr/>
        </p:nvSpPr>
        <p:spPr>
          <a:xfrm rot="0">
            <a:off x="1028700" y="5249812"/>
            <a:ext cx="16230600" cy="1770044"/>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Accessibility</a:t>
            </a:r>
          </a:p>
          <a:p>
            <a:pPr algn="l">
              <a:lnSpc>
                <a:spcPts val="3580"/>
              </a:lnSpc>
            </a:pPr>
            <a:r>
              <a:rPr lang="en-US" sz="2557">
                <a:solidFill>
                  <a:srgbClr val="000000"/>
                </a:solidFill>
                <a:latin typeface="Canva Sans"/>
                <a:ea typeface="Canva Sans"/>
                <a:cs typeface="Canva Sans"/>
                <a:sym typeface="Canva Sans"/>
              </a:rPr>
              <a:t>• Form labels and input fields are clearly defined to improve readability and usability.</a:t>
            </a:r>
          </a:p>
          <a:p>
            <a:pPr algn="l">
              <a:lnSpc>
                <a:spcPts val="3580"/>
              </a:lnSpc>
            </a:pPr>
            <a:r>
              <a:rPr lang="en-US" sz="2557">
                <a:solidFill>
                  <a:srgbClr val="000000"/>
                </a:solidFill>
                <a:latin typeface="Canva Sans"/>
                <a:ea typeface="Canva Sans"/>
                <a:cs typeface="Canva Sans"/>
                <a:sym typeface="Canva Sans"/>
              </a:rPr>
              <a:t>• Sufficient color contrast is used to make text and buttons easy to see.</a:t>
            </a:r>
          </a:p>
          <a:p>
            <a:pPr algn="l">
              <a:lnSpc>
                <a:spcPts val="3580"/>
              </a:lnSpc>
            </a:pPr>
            <a:r>
              <a:rPr lang="en-US" sz="2557">
                <a:solidFill>
                  <a:srgbClr val="000000"/>
                </a:solidFill>
                <a:latin typeface="Canva Sans"/>
                <a:ea typeface="Canva Sans"/>
                <a:cs typeface="Canva Sans"/>
                <a:sym typeface="Canva Sans"/>
              </a:rPr>
              <a:t>• Buttons and forms are large enough to be easily clickable.</a:t>
            </a:r>
          </a:p>
        </p:txBody>
      </p:sp>
      <p:sp>
        <p:nvSpPr>
          <p:cNvPr name="TextBox 5" id="5"/>
          <p:cNvSpPr txBox="true"/>
          <p:nvPr/>
        </p:nvSpPr>
        <p:spPr>
          <a:xfrm rot="0">
            <a:off x="1028700" y="7480482"/>
            <a:ext cx="16230600" cy="1323202"/>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Loading Speed</a:t>
            </a:r>
          </a:p>
          <a:p>
            <a:pPr algn="l">
              <a:lnSpc>
                <a:spcPts val="3580"/>
              </a:lnSpc>
            </a:pPr>
            <a:r>
              <a:rPr lang="en-US" sz="2557">
                <a:solidFill>
                  <a:srgbClr val="000000"/>
                </a:solidFill>
                <a:latin typeface="Canva Sans"/>
                <a:ea typeface="Canva Sans"/>
                <a:cs typeface="Canva Sans"/>
                <a:sym typeface="Canva Sans"/>
              </a:rPr>
              <a:t>• The system uses optimized images and minimal animations to reduce loading time.</a:t>
            </a:r>
          </a:p>
          <a:p>
            <a:pPr algn="l">
              <a:lnSpc>
                <a:spcPts val="3580"/>
              </a:lnSpc>
            </a:pPr>
            <a:r>
              <a:rPr lang="en-US" sz="2557">
                <a:solidFill>
                  <a:srgbClr val="000000"/>
                </a:solidFill>
                <a:latin typeface="Canva Sans"/>
                <a:ea typeface="Canva Sans"/>
                <a:cs typeface="Canva Sans"/>
                <a:sym typeface="Canva Sans"/>
              </a:rPr>
              <a:t>• Efficient HTML, CSS, and JavaScript code ensures smooth page transitions and faster performance.</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81075"/>
            <a:ext cx="16230600" cy="2220882"/>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Write Clear and Concise Content </a:t>
            </a:r>
          </a:p>
          <a:p>
            <a:pPr algn="l">
              <a:lnSpc>
                <a:spcPts val="3580"/>
              </a:lnSpc>
            </a:pPr>
            <a:r>
              <a:rPr lang="en-US" sz="2557">
                <a:solidFill>
                  <a:srgbClr val="000000"/>
                </a:solidFill>
                <a:latin typeface="Canva Sans"/>
                <a:ea typeface="Canva Sans"/>
                <a:cs typeface="Canva Sans"/>
                <a:sym typeface="Canva Sans"/>
              </a:rPr>
              <a:t>• The website uses simple and clear labels for forms such as Email, Password, Amount, Category, and Notes </a:t>
            </a:r>
          </a:p>
          <a:p>
            <a:pPr algn="l">
              <a:lnSpc>
                <a:spcPts val="3580"/>
              </a:lnSpc>
            </a:pPr>
            <a:r>
              <a:rPr lang="en-US" sz="2557">
                <a:solidFill>
                  <a:srgbClr val="000000"/>
                </a:solidFill>
                <a:latin typeface="Canva Sans"/>
                <a:ea typeface="Canva Sans"/>
                <a:cs typeface="Canva Sans"/>
                <a:sym typeface="Canva Sans"/>
              </a:rPr>
              <a:t>• Instructions and buttons are easy to understand to help users quickly perform actions like adding expenses or saving budget data</a:t>
            </a:r>
          </a:p>
        </p:txBody>
      </p:sp>
      <p:sp>
        <p:nvSpPr>
          <p:cNvPr name="TextBox 3" id="3"/>
          <p:cNvSpPr txBox="true"/>
          <p:nvPr/>
        </p:nvSpPr>
        <p:spPr>
          <a:xfrm rot="0">
            <a:off x="1028700" y="3505652"/>
            <a:ext cx="16230600" cy="1773240"/>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Organize Content </a:t>
            </a:r>
          </a:p>
          <a:p>
            <a:pPr algn="l">
              <a:lnSpc>
                <a:spcPts val="3580"/>
              </a:lnSpc>
            </a:pPr>
            <a:r>
              <a:rPr lang="en-US" sz="2557">
                <a:solidFill>
                  <a:srgbClr val="000000"/>
                </a:solidFill>
                <a:latin typeface="Canva Sans"/>
                <a:ea typeface="Canva Sans"/>
                <a:cs typeface="Canva Sans"/>
                <a:sym typeface="Canva Sans"/>
              </a:rPr>
              <a:t>• The system uses headings such as Home, Expenses, Categories, Reports, Budget, and Settings </a:t>
            </a:r>
          </a:p>
          <a:p>
            <a:pPr algn="l">
              <a:lnSpc>
                <a:spcPts val="3580"/>
              </a:lnSpc>
            </a:pPr>
            <a:r>
              <a:rPr lang="en-US" sz="2557">
                <a:solidFill>
                  <a:srgbClr val="000000"/>
                </a:solidFill>
                <a:latin typeface="Canva Sans"/>
                <a:ea typeface="Canva Sans"/>
                <a:cs typeface="Canva Sans"/>
                <a:sym typeface="Canva Sans"/>
              </a:rPr>
              <a:t>• Financial data is displayed using tables and cards for easier reading </a:t>
            </a:r>
          </a:p>
          <a:p>
            <a:pPr algn="l">
              <a:lnSpc>
                <a:spcPts val="3580"/>
              </a:lnSpc>
            </a:pPr>
            <a:r>
              <a:rPr lang="en-US" sz="2557">
                <a:solidFill>
                  <a:srgbClr val="000000"/>
                </a:solidFill>
                <a:latin typeface="Canva Sans"/>
                <a:ea typeface="Canva Sans"/>
                <a:cs typeface="Canva Sans"/>
                <a:sym typeface="Canva Sans"/>
              </a:rPr>
              <a:t>• Information is grouped into sections to avoid clutter and improve readability</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81075"/>
            <a:ext cx="16230600" cy="1325598"/>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Platform Used</a:t>
            </a:r>
          </a:p>
          <a:p>
            <a:pPr algn="l">
              <a:lnSpc>
                <a:spcPts val="3580"/>
              </a:lnSpc>
            </a:pPr>
            <a:r>
              <a:rPr lang="en-US" sz="2557">
                <a:solidFill>
                  <a:srgbClr val="000000"/>
                </a:solidFill>
                <a:latin typeface="Canva Sans"/>
                <a:ea typeface="Canva Sans"/>
                <a:cs typeface="Canva Sans"/>
                <a:sym typeface="Canva Sans"/>
              </a:rPr>
              <a:t> </a:t>
            </a:r>
            <a:r>
              <a:rPr lang="en-US" sz="2557">
                <a:solidFill>
                  <a:srgbClr val="000000"/>
                </a:solidFill>
                <a:latin typeface="Canva Sans"/>
                <a:ea typeface="Canva Sans"/>
                <a:cs typeface="Canva Sans"/>
                <a:sym typeface="Canva Sans"/>
              </a:rPr>
              <a:t>• The system was built from scratch using HTML, CSS, JavaScript, and PHP</a:t>
            </a:r>
          </a:p>
          <a:p>
            <a:pPr algn="l">
              <a:lnSpc>
                <a:spcPts val="3580"/>
              </a:lnSpc>
            </a:pPr>
          </a:p>
        </p:txBody>
      </p:sp>
      <p:sp>
        <p:nvSpPr>
          <p:cNvPr name="TextBox 3" id="3"/>
          <p:cNvSpPr txBox="true"/>
          <p:nvPr/>
        </p:nvSpPr>
        <p:spPr>
          <a:xfrm rot="0">
            <a:off x="1028700" y="2259048"/>
            <a:ext cx="16230600" cy="2220882"/>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Follow Best Practices</a:t>
            </a:r>
          </a:p>
          <a:p>
            <a:pPr algn="l">
              <a:lnSpc>
                <a:spcPts val="3580"/>
              </a:lnSpc>
            </a:pPr>
            <a:r>
              <a:rPr lang="en-US" sz="2557">
                <a:solidFill>
                  <a:srgbClr val="000000"/>
                </a:solidFill>
                <a:latin typeface="Canva Sans"/>
                <a:ea typeface="Canva Sans"/>
                <a:cs typeface="Canva Sans"/>
                <a:sym typeface="Canva Sans"/>
              </a:rPr>
              <a:t> • Used standard HTML structure for layout and content display</a:t>
            </a:r>
          </a:p>
          <a:p>
            <a:pPr algn="l">
              <a:lnSpc>
                <a:spcPts val="3580"/>
              </a:lnSpc>
            </a:pPr>
            <a:r>
              <a:rPr lang="en-US" sz="2557">
                <a:solidFill>
                  <a:srgbClr val="000000"/>
                </a:solidFill>
                <a:latin typeface="Canva Sans"/>
                <a:ea typeface="Canva Sans"/>
                <a:cs typeface="Canva Sans"/>
                <a:sym typeface="Canva Sans"/>
              </a:rPr>
              <a:t> • Used clean and organized CSS for consistent design and styling</a:t>
            </a:r>
          </a:p>
          <a:p>
            <a:pPr algn="l">
              <a:lnSpc>
                <a:spcPts val="3580"/>
              </a:lnSpc>
            </a:pPr>
            <a:r>
              <a:rPr lang="en-US" sz="2557">
                <a:solidFill>
                  <a:srgbClr val="000000"/>
                </a:solidFill>
                <a:latin typeface="Canva Sans"/>
                <a:ea typeface="Canva Sans"/>
                <a:cs typeface="Canva Sans"/>
                <a:sym typeface="Canva Sans"/>
              </a:rPr>
              <a:t> • Used JavaScript and PHP for interactivity and backend processing</a:t>
            </a:r>
          </a:p>
          <a:p>
            <a:pPr algn="l">
              <a:lnSpc>
                <a:spcPts val="3580"/>
              </a:lnSpc>
            </a:pPr>
          </a:p>
        </p:txBody>
      </p:sp>
      <p:sp>
        <p:nvSpPr>
          <p:cNvPr name="TextBox 4" id="4"/>
          <p:cNvSpPr txBox="true"/>
          <p:nvPr/>
        </p:nvSpPr>
        <p:spPr>
          <a:xfrm rot="0">
            <a:off x="1028700" y="4432306"/>
            <a:ext cx="16230600" cy="3563808"/>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Test Functionality</a:t>
            </a:r>
          </a:p>
          <a:p>
            <a:pPr algn="l">
              <a:lnSpc>
                <a:spcPts val="3580"/>
              </a:lnSpc>
            </a:pPr>
            <a:r>
              <a:rPr lang="en-US" sz="2557">
                <a:solidFill>
                  <a:srgbClr val="000000"/>
                </a:solidFill>
                <a:latin typeface="Canva Sans"/>
                <a:ea typeface="Canva Sans"/>
                <a:cs typeface="Canva Sans"/>
                <a:sym typeface="Canva Sans"/>
              </a:rPr>
              <a:t>• Verified that all navigation links and sidebar menu links function correctly and redirect users to the correct pages</a:t>
            </a:r>
          </a:p>
          <a:p>
            <a:pPr algn="l">
              <a:lnSpc>
                <a:spcPts val="3580"/>
              </a:lnSpc>
            </a:pPr>
            <a:r>
              <a:rPr lang="en-US" sz="2557">
                <a:solidFill>
                  <a:srgbClr val="000000"/>
                </a:solidFill>
                <a:latin typeface="Canva Sans"/>
                <a:ea typeface="Canva Sans"/>
                <a:cs typeface="Canva Sans"/>
                <a:sym typeface="Canva Sans"/>
              </a:rPr>
              <a:t> • Tested login and registration forms to ensure proper authentication and data validation</a:t>
            </a:r>
          </a:p>
          <a:p>
            <a:pPr algn="l">
              <a:lnSpc>
                <a:spcPts val="3580"/>
              </a:lnSpc>
            </a:pPr>
            <a:r>
              <a:rPr lang="en-US" sz="2557">
                <a:solidFill>
                  <a:srgbClr val="000000"/>
                </a:solidFill>
                <a:latin typeface="Canva Sans"/>
                <a:ea typeface="Canva Sans"/>
                <a:cs typeface="Canva Sans"/>
                <a:sym typeface="Canva Sans"/>
              </a:rPr>
              <a:t> • Tested expense creation, editing, and deletion to ensure database updates correctly</a:t>
            </a:r>
          </a:p>
          <a:p>
            <a:pPr algn="l">
              <a:lnSpc>
                <a:spcPts val="3580"/>
              </a:lnSpc>
            </a:pPr>
            <a:r>
              <a:rPr lang="en-US" sz="2557">
                <a:solidFill>
                  <a:srgbClr val="000000"/>
                </a:solidFill>
                <a:latin typeface="Canva Sans"/>
                <a:ea typeface="Canva Sans"/>
                <a:cs typeface="Canva Sans"/>
                <a:sym typeface="Canva Sans"/>
              </a:rPr>
              <a:t> • Tested category and budget management features for proper saving and updating of data</a:t>
            </a:r>
          </a:p>
          <a:p>
            <a:pPr algn="l">
              <a:lnSpc>
                <a:spcPts val="3580"/>
              </a:lnSpc>
            </a:pPr>
            <a:r>
              <a:rPr lang="en-US" sz="2557">
                <a:solidFill>
                  <a:srgbClr val="000000"/>
                </a:solidFill>
                <a:latin typeface="Canva Sans"/>
                <a:ea typeface="Canva Sans"/>
                <a:cs typeface="Canva Sans"/>
                <a:sym typeface="Canva Sans"/>
              </a:rPr>
              <a:t> • Verified that reports and dashboard summaries display accurate financial information</a:t>
            </a:r>
          </a:p>
          <a:p>
            <a:pPr algn="l">
              <a:lnSpc>
                <a:spcPts val="3580"/>
              </a:lnSpc>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81075"/>
            <a:ext cx="16230600" cy="1325598"/>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Design Tools</a:t>
            </a:r>
          </a:p>
          <a:p>
            <a:pPr algn="l">
              <a:lnSpc>
                <a:spcPts val="3580"/>
              </a:lnSpc>
            </a:pPr>
            <a:r>
              <a:rPr lang="en-US" sz="2557">
                <a:solidFill>
                  <a:srgbClr val="000000"/>
                </a:solidFill>
                <a:latin typeface="Canva Sans"/>
                <a:ea typeface="Canva Sans"/>
                <a:cs typeface="Canva Sans"/>
                <a:sym typeface="Canva Sans"/>
              </a:rPr>
              <a:t>• The system UI was designed and developed from scratch</a:t>
            </a:r>
          </a:p>
          <a:p>
            <a:pPr algn="l">
              <a:lnSpc>
                <a:spcPts val="3580"/>
              </a:lnSpc>
            </a:pPr>
          </a:p>
        </p:txBody>
      </p:sp>
      <p:sp>
        <p:nvSpPr>
          <p:cNvPr name="TextBox 3" id="3"/>
          <p:cNvSpPr txBox="true"/>
          <p:nvPr/>
        </p:nvSpPr>
        <p:spPr>
          <a:xfrm rot="0">
            <a:off x="1028700" y="2164581"/>
            <a:ext cx="16230600" cy="2220882"/>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Development Tools</a:t>
            </a:r>
          </a:p>
          <a:p>
            <a:pPr algn="l">
              <a:lnSpc>
                <a:spcPts val="3580"/>
              </a:lnSpc>
            </a:pPr>
            <a:r>
              <a:rPr lang="en-US" sz="2557">
                <a:solidFill>
                  <a:srgbClr val="000000"/>
                </a:solidFill>
                <a:latin typeface="Canva Sans"/>
                <a:ea typeface="Canva Sans"/>
                <a:cs typeface="Canva Sans"/>
                <a:sym typeface="Canva Sans"/>
              </a:rPr>
              <a:t>• Visual Studio Code </a:t>
            </a:r>
          </a:p>
          <a:p>
            <a:pPr algn="l">
              <a:lnSpc>
                <a:spcPts val="3580"/>
              </a:lnSpc>
            </a:pPr>
            <a:r>
              <a:rPr lang="en-US" sz="2557">
                <a:solidFill>
                  <a:srgbClr val="000000"/>
                </a:solidFill>
                <a:latin typeface="Canva Sans"/>
                <a:ea typeface="Canva Sans"/>
                <a:cs typeface="Canva Sans"/>
                <a:sym typeface="Canva Sans"/>
              </a:rPr>
              <a:t>• GitHub</a:t>
            </a:r>
          </a:p>
          <a:p>
            <a:pPr algn="l">
              <a:lnSpc>
                <a:spcPts val="3580"/>
              </a:lnSpc>
            </a:pPr>
            <a:r>
              <a:rPr lang="en-US" sz="2557">
                <a:solidFill>
                  <a:srgbClr val="000000"/>
                </a:solidFill>
                <a:latin typeface="Canva Sans"/>
                <a:ea typeface="Canva Sans"/>
                <a:cs typeface="Canva Sans"/>
                <a:sym typeface="Canva Sans"/>
              </a:rPr>
              <a:t>• InfinityFree </a:t>
            </a:r>
          </a:p>
          <a:p>
            <a:pPr algn="l">
              <a:lnSpc>
                <a:spcPts val="3580"/>
              </a:lnSpc>
            </a:pPr>
          </a:p>
        </p:txBody>
      </p:sp>
      <p:sp>
        <p:nvSpPr>
          <p:cNvPr name="TextBox 4" id="4"/>
          <p:cNvSpPr txBox="true"/>
          <p:nvPr/>
        </p:nvSpPr>
        <p:spPr>
          <a:xfrm rot="0">
            <a:off x="1028700" y="4337838"/>
            <a:ext cx="16230600" cy="1325598"/>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Testing Tools</a:t>
            </a:r>
          </a:p>
          <a:p>
            <a:pPr algn="l">
              <a:lnSpc>
                <a:spcPts val="3580"/>
              </a:lnSpc>
            </a:pPr>
            <a:r>
              <a:rPr lang="en-US" sz="2557" b="true">
                <a:solidFill>
                  <a:srgbClr val="000000"/>
                </a:solidFill>
                <a:latin typeface="Canva Sans Bold"/>
                <a:ea typeface="Canva Sans Bold"/>
                <a:cs typeface="Canva Sans Bold"/>
                <a:sym typeface="Canva Sans Bold"/>
              </a:rPr>
              <a:t>•</a:t>
            </a:r>
            <a:r>
              <a:rPr lang="en-US" sz="2557">
                <a:solidFill>
                  <a:srgbClr val="000000"/>
                </a:solidFill>
                <a:latin typeface="Canva Sans"/>
                <a:ea typeface="Canva Sans"/>
                <a:cs typeface="Canva Sans"/>
                <a:sym typeface="Canva Sans"/>
              </a:rPr>
              <a:t> Localhost (Local Server</a:t>
            </a:r>
            <a:r>
              <a:rPr lang="en-US" sz="2557">
                <a:solidFill>
                  <a:srgbClr val="000000"/>
                </a:solidFill>
                <a:latin typeface="Canva Sans"/>
                <a:ea typeface="Canva Sans"/>
                <a:cs typeface="Canva Sans"/>
                <a:sym typeface="Canva Sans"/>
              </a:rPr>
              <a:t> Testing)</a:t>
            </a:r>
          </a:p>
          <a:p>
            <a:pPr algn="l">
              <a:lnSpc>
                <a:spcPts val="3580"/>
              </a:lnSpc>
            </a:pPr>
          </a:p>
        </p:txBody>
      </p:sp>
      <p:sp>
        <p:nvSpPr>
          <p:cNvPr name="TextBox 5" id="5"/>
          <p:cNvSpPr txBox="true"/>
          <p:nvPr/>
        </p:nvSpPr>
        <p:spPr>
          <a:xfrm rot="0">
            <a:off x="1028700" y="5508384"/>
            <a:ext cx="16230600" cy="1325598"/>
          </a:xfrm>
          <a:prstGeom prst="rect">
            <a:avLst/>
          </a:prstGeom>
        </p:spPr>
        <p:txBody>
          <a:bodyPr anchor="t" rtlCol="false" tIns="0" lIns="0" bIns="0" rIns="0">
            <a:spAutoFit/>
          </a:bodyPr>
          <a:lstStyle/>
          <a:p>
            <a:pPr algn="l">
              <a:lnSpc>
                <a:spcPts val="3580"/>
              </a:lnSpc>
            </a:pPr>
            <a:r>
              <a:rPr lang="en-US" sz="2557" b="true">
                <a:solidFill>
                  <a:srgbClr val="000000"/>
                </a:solidFill>
                <a:latin typeface="Canva Sans Bold"/>
                <a:ea typeface="Canva Sans Bold"/>
                <a:cs typeface="Canva Sans Bold"/>
                <a:sym typeface="Canva Sans Bold"/>
              </a:rPr>
              <a:t>Content Management Systems (CMS)</a:t>
            </a:r>
          </a:p>
          <a:p>
            <a:pPr algn="l">
              <a:lnSpc>
                <a:spcPts val="3580"/>
              </a:lnSpc>
            </a:pPr>
            <a:r>
              <a:rPr lang="en-US" sz="2557">
                <a:solidFill>
                  <a:srgbClr val="000000"/>
                </a:solidFill>
                <a:latin typeface="Canva Sans"/>
                <a:ea typeface="Canva Sans"/>
                <a:cs typeface="Canva Sans"/>
                <a:sym typeface="Canva Sans"/>
              </a:rPr>
              <a:t>• The system was built using</a:t>
            </a:r>
            <a:r>
              <a:rPr lang="en-US" sz="2557">
                <a:solidFill>
                  <a:srgbClr val="000000"/>
                </a:solidFill>
                <a:latin typeface="Canva Sans"/>
                <a:ea typeface="Canva Sans"/>
                <a:cs typeface="Canva Sans"/>
                <a:sym typeface="Canva Sans"/>
              </a:rPr>
              <a:t> custom code instead of CMS platforms</a:t>
            </a:r>
          </a:p>
          <a:p>
            <a:pPr algn="l">
              <a:lnSpc>
                <a:spcPts val="358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DAHA6qYqbHI</dc:identifier>
  <dcterms:modified xsi:type="dcterms:W3CDTF">2011-08-01T06:04:30Z</dcterms:modified>
  <cp:revision>1</cp:revision>
  <dc:title>Expense Tracker</dc:title>
</cp:coreProperties>
</file>